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360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g Sharon" initials="CS" lastIdx="1" clrIdx="0">
    <p:extLst>
      <p:ext uri="{19B8F6BF-5375-455C-9EA6-DF929625EA0E}">
        <p15:presenceInfo xmlns:p15="http://schemas.microsoft.com/office/powerpoint/2012/main" userId="e62f7f842c167d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DA51639-B2D6-4652-B8C3-1B4C224A7BAF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2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91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6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13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48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9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10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3575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656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084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0528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664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120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6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7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C48EC7-AF6A-48D3-8284-14BACBEBDD84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20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61" r:id="rId1"/>
    <p:sldLayoutId id="2147484362" r:id="rId2"/>
    <p:sldLayoutId id="2147484363" r:id="rId3"/>
    <p:sldLayoutId id="2147484364" r:id="rId4"/>
    <p:sldLayoutId id="2147484365" r:id="rId5"/>
    <p:sldLayoutId id="2147484366" r:id="rId6"/>
    <p:sldLayoutId id="2147484367" r:id="rId7"/>
    <p:sldLayoutId id="2147484368" r:id="rId8"/>
    <p:sldLayoutId id="2147484369" r:id="rId9"/>
    <p:sldLayoutId id="2147484370" r:id="rId10"/>
    <p:sldLayoutId id="2147484371" r:id="rId11"/>
    <p:sldLayoutId id="2147484372" r:id="rId12"/>
    <p:sldLayoutId id="2147484373" r:id="rId13"/>
    <p:sldLayoutId id="2147484374" r:id="rId14"/>
    <p:sldLayoutId id="2147484375" r:id="rId15"/>
    <p:sldLayoutId id="2147484376" r:id="rId16"/>
    <p:sldLayoutId id="21474843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ywchang@mail.mcu.edu.t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29625" y="953477"/>
            <a:ext cx="9068586" cy="1750646"/>
          </a:xfrm>
        </p:spPr>
        <p:txBody>
          <a:bodyPr>
            <a:normAutofit/>
          </a:bodyPr>
          <a:lstStyle/>
          <a:p>
            <a:pPr algn="ctr"/>
            <a:r>
              <a:rPr lang="en-US" altLang="zh-TW" sz="9600" dirty="0" smtClean="0"/>
              <a:t>Year2 (PE3)</a:t>
            </a:r>
            <a:endParaRPr lang="zh-TW" altLang="en-US" sz="9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39338" y="3541222"/>
            <a:ext cx="10274531" cy="1463041"/>
          </a:xfrm>
        </p:spPr>
        <p:txBody>
          <a:bodyPr>
            <a:noAutofit/>
          </a:bodyPr>
          <a:lstStyle/>
          <a:p>
            <a:pPr algn="l"/>
            <a:r>
              <a:rPr lang="en-US" altLang="zh-TW" sz="2400" b="1" dirty="0" smtClean="0"/>
              <a:t>Name: Sharon Chang </a:t>
            </a:r>
            <a:r>
              <a:rPr lang="zh-TW" altLang="en-US" sz="2400" b="1" dirty="0" smtClean="0"/>
              <a:t>張昱文                          </a:t>
            </a:r>
            <a:r>
              <a:rPr lang="en-US" altLang="zh-TW" sz="2400" b="1" dirty="0" smtClean="0"/>
              <a:t>Office: I314  (</a:t>
            </a:r>
            <a:r>
              <a:rPr lang="zh-TW" altLang="en-US" sz="2400" b="1" dirty="0" smtClean="0"/>
              <a:t>逸仙堂</a:t>
            </a:r>
            <a:r>
              <a:rPr lang="en-US" altLang="zh-TW" sz="2400" b="1" dirty="0" smtClean="0"/>
              <a:t>)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/>
              <a:t>             </a:t>
            </a:r>
          </a:p>
          <a:p>
            <a:pPr algn="l"/>
            <a:r>
              <a:rPr lang="en-US" altLang="zh-TW" sz="2400" b="1" dirty="0" smtClean="0"/>
              <a:t>office </a:t>
            </a:r>
            <a:r>
              <a:rPr lang="en-US" altLang="zh-TW" sz="2400" b="1" dirty="0"/>
              <a:t>Phone No. </a:t>
            </a:r>
            <a:r>
              <a:rPr lang="en-US" altLang="zh-TW" sz="2400" b="1" dirty="0" smtClean="0"/>
              <a:t>(02)2882-4564 </a:t>
            </a:r>
            <a:r>
              <a:rPr lang="en-US" altLang="zh-TW" sz="2400" b="1" dirty="0"/>
              <a:t>#</a:t>
            </a:r>
            <a:r>
              <a:rPr lang="en-US" altLang="zh-TW" sz="2400" b="1" dirty="0" smtClean="0"/>
              <a:t>2641             Use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TEAMS (9700336) </a:t>
            </a:r>
            <a:r>
              <a:rPr lang="en-US" altLang="zh-TW" sz="2400" b="1" dirty="0" smtClean="0"/>
              <a:t> </a:t>
            </a:r>
          </a:p>
          <a:p>
            <a:pPr algn="l"/>
            <a:r>
              <a:rPr lang="en-US" altLang="zh-TW" sz="2400" b="1" dirty="0" smtClean="0"/>
              <a:t>Email:  </a:t>
            </a:r>
            <a:r>
              <a:rPr lang="en-US" altLang="zh-TW" sz="2400" b="1" dirty="0" smtClean="0">
                <a:hlinkClick r:id="rId2"/>
              </a:rPr>
              <a:t>ywchang@mail.mcu.edu.tw</a:t>
            </a:r>
            <a:r>
              <a:rPr lang="en-US" altLang="zh-TW" sz="2400" b="1" dirty="0" smtClean="0"/>
              <a:t> </a:t>
            </a:r>
            <a:endParaRPr lang="zh-TW" altLang="en-US" sz="2400" b="1" dirty="0"/>
          </a:p>
          <a:p>
            <a:pPr algn="l"/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0237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Textbook &amp; Class Schedule   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6799" y="2103120"/>
            <a:ext cx="10263447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Handbook of Pathways in English: Skill Building 1 </a:t>
            </a:r>
          </a:p>
          <a:p>
            <a:pPr marL="0" indent="0">
              <a:buNone/>
            </a:pPr>
            <a:r>
              <a:rPr lang="zh-TW" altLang="en-US" sz="3200" dirty="0"/>
              <a:t> </a:t>
            </a:r>
            <a:r>
              <a:rPr lang="zh-TW" altLang="en-US" sz="3200" dirty="0" smtClean="0"/>
              <a:t> </a:t>
            </a:r>
            <a:r>
              <a:rPr lang="en-US" altLang="zh-TW" sz="3600" dirty="0" smtClean="0"/>
              <a:t>&amp;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eBook on Moodle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rgbClr val="00B0F0"/>
                </a:solidFill>
              </a:rPr>
              <a:t>Before Midterm: Unit 1 &amp; 2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rgbClr val="00B0F0"/>
                </a:solidFill>
              </a:rPr>
              <a:t>After Midterm: Unit 3 &amp; 4 </a:t>
            </a:r>
            <a:r>
              <a:rPr lang="zh-TW" altLang="en-US" sz="2800" dirty="0" smtClean="0">
                <a:solidFill>
                  <a:srgbClr val="00B0F0"/>
                </a:solidFill>
              </a:rPr>
              <a:t> </a:t>
            </a:r>
            <a:endParaRPr lang="en-US" altLang="zh-TW" sz="2800" dirty="0" smtClean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3600" b="1" dirty="0" smtClean="0">
                <a:solidFill>
                  <a:srgbClr val="00B050"/>
                </a:solidFill>
              </a:rPr>
              <a:t> </a:t>
            </a:r>
            <a:r>
              <a:rPr lang="en-US" altLang="zh-TW" sz="3600" dirty="0"/>
              <a:t>Class </a:t>
            </a:r>
            <a:r>
              <a:rPr lang="en-US" altLang="zh-TW" sz="3600" dirty="0" smtClean="0"/>
              <a:t>schedule: refer to the Syllabus  </a:t>
            </a:r>
            <a:endParaRPr lang="en-US" altLang="zh-TW" sz="3600" dirty="0"/>
          </a:p>
          <a:p>
            <a:pPr marL="0" indent="0">
              <a:buNone/>
            </a:pPr>
            <a:endParaRPr lang="zh-TW" altLang="en-US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8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47277"/>
              </p:ext>
            </p:extLst>
          </p:nvPr>
        </p:nvGraphicFramePr>
        <p:xfrm>
          <a:off x="0" y="6"/>
          <a:ext cx="12191999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298">
                  <a:extLst>
                    <a:ext uri="{9D8B030D-6E8A-4147-A177-3AD203B41FA5}">
                      <a16:colId xmlns:a16="http://schemas.microsoft.com/office/drawing/2014/main" val="497918561"/>
                    </a:ext>
                  </a:extLst>
                </a:gridCol>
                <a:gridCol w="2360814">
                  <a:extLst>
                    <a:ext uri="{9D8B030D-6E8A-4147-A177-3AD203B41FA5}">
                      <a16:colId xmlns:a16="http://schemas.microsoft.com/office/drawing/2014/main" val="269718386"/>
                    </a:ext>
                  </a:extLst>
                </a:gridCol>
                <a:gridCol w="3873731">
                  <a:extLst>
                    <a:ext uri="{9D8B030D-6E8A-4147-A177-3AD203B41FA5}">
                      <a16:colId xmlns:a16="http://schemas.microsoft.com/office/drawing/2014/main" val="3986613530"/>
                    </a:ext>
                  </a:extLst>
                </a:gridCol>
                <a:gridCol w="4195156">
                  <a:extLst>
                    <a:ext uri="{9D8B030D-6E8A-4147-A177-3AD203B41FA5}">
                      <a16:colId xmlns:a16="http://schemas.microsoft.com/office/drawing/2014/main" val="4036814749"/>
                    </a:ext>
                  </a:extLst>
                </a:gridCol>
              </a:tblGrid>
              <a:tr h="379648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Week 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09/09 - 09/13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baseline="0" dirty="0" smtClean="0">
                          <a:solidFill>
                            <a:schemeClr val="tx1"/>
                          </a:solidFill>
                        </a:rPr>
                        <a:t>Class Introduction 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zh-TW" altLang="en-US" sz="16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873617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2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09/16</a:t>
                      </a:r>
                      <a:r>
                        <a:rPr lang="en-US" altLang="zh-TW" baseline="0" dirty="0" smtClean="0"/>
                        <a:t> - 09/20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 1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9/17(Tue) Mid-Autumn</a:t>
                      </a:r>
                      <a:r>
                        <a:rPr lang="en-US" altLang="zh-TW" sz="1600" baseline="0" dirty="0" smtClean="0"/>
                        <a:t> Festival – Holiday 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389780"/>
                  </a:ext>
                </a:extLst>
              </a:tr>
              <a:tr h="38451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09/23 - 09/27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Unit 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4737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09/30 - 10/04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</a:t>
                      </a:r>
                      <a:r>
                        <a:rPr lang="en-US" altLang="zh-TW" baseline="0" dirty="0" smtClean="0"/>
                        <a:t> 1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566455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10/07 - 10/11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</a:t>
                      </a:r>
                      <a:r>
                        <a:rPr lang="en-US" altLang="zh-TW" baseline="0" dirty="0" smtClean="0"/>
                        <a:t> 2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10/10(</a:t>
                      </a:r>
                      <a:r>
                        <a:rPr lang="en-US" altLang="zh-TW" sz="1600" dirty="0" err="1" smtClean="0">
                          <a:solidFill>
                            <a:schemeClr val="bg1"/>
                          </a:solidFill>
                        </a:rPr>
                        <a:t>Thur</a:t>
                      </a:r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en-US" altLang="zh-TW" sz="1600" baseline="0" dirty="0" smtClean="0">
                          <a:solidFill>
                            <a:schemeClr val="bg1"/>
                          </a:solidFill>
                        </a:rPr>
                        <a:t>National Day – Holiday </a:t>
                      </a:r>
                      <a:endParaRPr lang="zh-TW" altLang="en-US" sz="16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92275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10/14 - 10/18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</a:t>
                      </a:r>
                      <a:r>
                        <a:rPr lang="en-US" altLang="zh-TW" baseline="0" dirty="0" smtClean="0"/>
                        <a:t> 2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695737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10/21 - 10/25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Unit 2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95815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Week 8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10/28 - 11/01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Oral</a:t>
                      </a:r>
                      <a:r>
                        <a:rPr lang="en-US" altLang="zh-TW" sz="1800" baseline="0" dirty="0" smtClean="0">
                          <a:solidFill>
                            <a:srgbClr val="FF0000"/>
                          </a:solidFill>
                        </a:rPr>
                        <a:t> Test </a:t>
                      </a:r>
                      <a:endParaRPr lang="zh-TW" altLang="en-US" sz="18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344555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9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11/04 - 11/08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Mid-Term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 Exam  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604607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11/11 - 11/15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 3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46737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11/18 - 11/22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 3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224198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11/25 - 11/29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 4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altLang="zh-TW" sz="1600" b="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26025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12/02 - 12/06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Unit</a:t>
                      </a:r>
                      <a:r>
                        <a:rPr lang="en-US" altLang="zh-TW" baseline="0" dirty="0" smtClean="0"/>
                        <a:t> 4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727073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Week 14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12/09 - 12/13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Final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 Exam 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 smtClean="0">
                          <a:solidFill>
                            <a:srgbClr val="FF0000"/>
                          </a:solidFill>
                        </a:rPr>
                        <a:t>12/13 (Fri)</a:t>
                      </a:r>
                      <a:r>
                        <a:rPr lang="en-US" altLang="zh-TW" sz="16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1600" b="0" dirty="0" smtClean="0">
                          <a:solidFill>
                            <a:srgbClr val="FF0000"/>
                          </a:solidFill>
                        </a:rPr>
                        <a:t>Deadline</a:t>
                      </a:r>
                      <a:r>
                        <a:rPr lang="en-US" altLang="zh-TW" sz="1600" b="0" baseline="0" dirty="0" smtClean="0">
                          <a:solidFill>
                            <a:srgbClr val="FF0000"/>
                          </a:solidFill>
                        </a:rPr>
                        <a:t> for </a:t>
                      </a:r>
                      <a:r>
                        <a:rPr lang="en-US" altLang="zh-TW" sz="1600" b="0" dirty="0" smtClean="0">
                          <a:solidFill>
                            <a:srgbClr val="FF0000"/>
                          </a:solidFill>
                        </a:rPr>
                        <a:t>eBook Exercises!</a:t>
                      </a:r>
                      <a:r>
                        <a:rPr lang="en-US" altLang="zh-TW" sz="16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TW" altLang="en-US" sz="1600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16579"/>
                  </a:ext>
                </a:extLst>
              </a:tr>
              <a:tr h="39911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Week 15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12/16 - 12/20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DPT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TW" altLang="en-US" sz="14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66964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Week 16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12/23 - 12/27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Final and DPT make-up (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</a:rPr>
                        <a:t>病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</a:rPr>
                        <a:t>公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</a:rPr>
                        <a:t>喪假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zh-TW" altLang="en-US" baseline="0" dirty="0" smtClean="0">
                          <a:solidFill>
                            <a:srgbClr val="FF0000"/>
                          </a:solidFill>
                        </a:rPr>
                        <a:t>　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 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544703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Week 17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12/30 – 01/03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Self-Learning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 Assignment</a:t>
                      </a:r>
                      <a:r>
                        <a:rPr lang="en-US" altLang="zh-TW" sz="1600" baseline="0" dirty="0" smtClean="0"/>
                        <a:t> needs to be finished. </a:t>
                      </a:r>
                      <a:endParaRPr lang="zh-TW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96588"/>
                  </a:ext>
                </a:extLst>
              </a:tr>
              <a:tr h="37964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Week 18 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01/06 - 01/10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Self-Learning</a:t>
                      </a:r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zh-TW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2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10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0492" y="95428"/>
            <a:ext cx="10131425" cy="1456267"/>
          </a:xfrm>
        </p:spPr>
        <p:txBody>
          <a:bodyPr/>
          <a:lstStyle/>
          <a:p>
            <a:r>
              <a:rPr lang="en-US" altLang="zh-TW" b="1" dirty="0" smtClean="0"/>
              <a:t>Grading </a:t>
            </a:r>
            <a:endParaRPr lang="zh-TW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05886"/>
              </p:ext>
            </p:extLst>
          </p:nvPr>
        </p:nvGraphicFramePr>
        <p:xfrm>
          <a:off x="590204" y="1330035"/>
          <a:ext cx="11014362" cy="49963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71454">
                  <a:extLst>
                    <a:ext uri="{9D8B030D-6E8A-4147-A177-3AD203B41FA5}">
                      <a16:colId xmlns:a16="http://schemas.microsoft.com/office/drawing/2014/main" val="3988083015"/>
                    </a:ext>
                  </a:extLst>
                </a:gridCol>
                <a:gridCol w="3671454">
                  <a:extLst>
                    <a:ext uri="{9D8B030D-6E8A-4147-A177-3AD203B41FA5}">
                      <a16:colId xmlns:a16="http://schemas.microsoft.com/office/drawing/2014/main" val="3355958031"/>
                    </a:ext>
                  </a:extLst>
                </a:gridCol>
                <a:gridCol w="3671454">
                  <a:extLst>
                    <a:ext uri="{9D8B030D-6E8A-4147-A177-3AD203B41FA5}">
                      <a16:colId xmlns:a16="http://schemas.microsoft.com/office/drawing/2014/main" val="4030066054"/>
                    </a:ext>
                  </a:extLst>
                </a:gridCol>
              </a:tblGrid>
              <a:tr h="122450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Daily Grade</a:t>
                      </a:r>
                      <a:r>
                        <a:rPr lang="zh-TW" altLang="en-US" sz="1800" dirty="0" smtClean="0"/>
                        <a:t> </a:t>
                      </a:r>
                      <a:r>
                        <a:rPr lang="en-US" altLang="zh-TW" sz="1800" dirty="0" smtClean="0"/>
                        <a:t>60% 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Midterm Exam 20%</a:t>
                      </a:r>
                      <a:endParaRPr lang="zh-TW" altLang="en-US" sz="1800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Final Exam 20% </a:t>
                      </a:r>
                      <a:endParaRPr lang="zh-TW" altLang="en-US" sz="1800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492399"/>
                  </a:ext>
                </a:extLst>
              </a:tr>
              <a:tr h="76224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In-class</a:t>
                      </a:r>
                      <a:r>
                        <a:rPr lang="en-US" altLang="zh-TW" sz="1800" baseline="0" dirty="0" smtClean="0"/>
                        <a:t> / </a:t>
                      </a:r>
                      <a:r>
                        <a:rPr lang="en-US" altLang="zh-TW" sz="1800" dirty="0" smtClean="0"/>
                        <a:t>DPT /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/>
                        <a:t>Assignment for wk17&amp;18</a:t>
                      </a:r>
                      <a:r>
                        <a:rPr lang="en-US" altLang="zh-TW" sz="1800" baseline="0" dirty="0" smtClean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Listening and Reading</a:t>
                      </a:r>
                      <a:r>
                        <a:rPr lang="en-US" altLang="zh-TW" baseline="0" dirty="0" smtClean="0"/>
                        <a:t> 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Listening and Reading</a:t>
                      </a:r>
                      <a:r>
                        <a:rPr lang="en-US" altLang="zh-TW" baseline="0" dirty="0" smtClean="0"/>
                        <a:t> 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880274"/>
                  </a:ext>
                </a:extLst>
              </a:tr>
              <a:tr h="1272211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7030A0"/>
                          </a:solidFill>
                        </a:rPr>
                        <a:t>In-Class: 44%</a:t>
                      </a:r>
                    </a:p>
                    <a:p>
                      <a:r>
                        <a:rPr lang="en-US" altLang="zh-TW" dirty="0" smtClean="0"/>
                        <a:t>DPT: 10% </a:t>
                      </a:r>
                    </a:p>
                    <a:p>
                      <a:r>
                        <a:rPr lang="en-US" altLang="zh-TW" dirty="0" smtClean="0"/>
                        <a:t>Assignment: 6%  </a:t>
                      </a:r>
                    </a:p>
                    <a:p>
                      <a:r>
                        <a:rPr lang="en-US" altLang="zh-TW" b="1" dirty="0" smtClean="0"/>
                        <a:t> 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Unit 1 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and</a:t>
                      </a:r>
                      <a:r>
                        <a:rPr lang="en-US" altLang="zh-TW" dirty="0" smtClean="0"/>
                        <a:t> Unit 2 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Unit</a:t>
                      </a:r>
                      <a:r>
                        <a:rPr lang="en-US" altLang="zh-TW" baseline="0" dirty="0" smtClean="0"/>
                        <a:t> 3 and Unit 4 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7734"/>
                  </a:ext>
                </a:extLst>
              </a:tr>
              <a:tr h="139943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7030A0"/>
                          </a:solidFill>
                        </a:rPr>
                        <a:t>Attendance: 0% </a:t>
                      </a:r>
                      <a:r>
                        <a:rPr lang="zh-TW" altLang="en-US" dirty="0" smtClean="0">
                          <a:solidFill>
                            <a:srgbClr val="7030A0"/>
                          </a:solidFill>
                        </a:rPr>
                        <a:t> </a:t>
                      </a:r>
                      <a:endParaRPr lang="en-US" altLang="zh-TW" dirty="0" smtClean="0">
                        <a:solidFill>
                          <a:srgbClr val="7030A0"/>
                        </a:solidFill>
                      </a:endParaRPr>
                    </a:p>
                    <a:p>
                      <a:r>
                        <a:rPr lang="en-US" altLang="zh-TW" dirty="0" smtClean="0">
                          <a:solidFill>
                            <a:srgbClr val="7030A0"/>
                          </a:solidFill>
                        </a:rPr>
                        <a:t>In-class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 Assignment: 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40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%</a:t>
                      </a:r>
                    </a:p>
                    <a:p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eBook: 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30%</a:t>
                      </a:r>
                      <a:endParaRPr lang="en-US" altLang="zh-TW" baseline="0" dirty="0" smtClean="0">
                        <a:solidFill>
                          <a:srgbClr val="7030A0"/>
                        </a:solidFill>
                      </a:endParaRPr>
                    </a:p>
                    <a:p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Oral</a:t>
                      </a:r>
                      <a:r>
                        <a:rPr lang="zh-TW" altLang="en-US" baseline="0" dirty="0" smtClean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Test: 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20</a:t>
                      </a:r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%</a:t>
                      </a:r>
                    </a:p>
                    <a:p>
                      <a:r>
                        <a:rPr lang="en-US" altLang="zh-TW" baseline="0" dirty="0" smtClean="0">
                          <a:solidFill>
                            <a:srgbClr val="7030A0"/>
                          </a:solidFill>
                        </a:rPr>
                        <a:t>Participation: 10% </a:t>
                      </a:r>
                    </a:p>
                    <a:p>
                      <a:r>
                        <a:rPr lang="en-US" altLang="zh-TW" b="1" baseline="0" dirty="0" smtClean="0">
                          <a:solidFill>
                            <a:srgbClr val="7030A0"/>
                          </a:solidFill>
                        </a:rPr>
                        <a:t>Total:100%</a:t>
                      </a:r>
                      <a:endParaRPr lang="en-US" altLang="zh-TW" b="1" dirty="0" smtClean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40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5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1431" y="531448"/>
            <a:ext cx="10131425" cy="1312984"/>
          </a:xfrm>
        </p:spPr>
        <p:txBody>
          <a:bodyPr/>
          <a:lstStyle/>
          <a:p>
            <a:r>
              <a:rPr lang="en-US" altLang="zh-TW" dirty="0" smtClean="0"/>
              <a:t> </a:t>
            </a:r>
            <a:r>
              <a:rPr lang="en-US" altLang="zh-TW" b="1" dirty="0" smtClean="0"/>
              <a:t>Classroom Rules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1431" y="1987714"/>
            <a:ext cx="10607040" cy="393192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TW" sz="2800" b="1" dirty="0" smtClean="0"/>
              <a:t>Do not bring smelly food or eat in the LAB.</a:t>
            </a:r>
          </a:p>
          <a:p>
            <a:pPr>
              <a:lnSpc>
                <a:spcPct val="170000"/>
              </a:lnSpc>
            </a:pPr>
            <a:r>
              <a:rPr lang="en-US" altLang="zh-TW" sz="2800" b="1" dirty="0" smtClean="0"/>
              <a:t>Please do not change your seat without permission.</a:t>
            </a:r>
            <a:endParaRPr lang="en-US" altLang="zh-TW" sz="2800" b="1" dirty="0"/>
          </a:p>
          <a:p>
            <a:pPr>
              <a:lnSpc>
                <a:spcPct val="170000"/>
              </a:lnSpc>
            </a:pPr>
            <a:r>
              <a:rPr lang="en-US" altLang="zh-TW" sz="2800" b="1" dirty="0"/>
              <a:t>Please come to class on time and don’t bring your friends to class.    </a:t>
            </a:r>
          </a:p>
          <a:p>
            <a:pPr>
              <a:lnSpc>
                <a:spcPct val="170000"/>
              </a:lnSpc>
            </a:pPr>
            <a:r>
              <a:rPr lang="en-US" altLang="zh-TW" sz="2800" b="1" dirty="0"/>
              <a:t>If you need to leave earlier, please inform the classroom teacher before you leave. </a:t>
            </a:r>
          </a:p>
          <a:p>
            <a:pPr>
              <a:lnSpc>
                <a:spcPct val="170000"/>
              </a:lnSpc>
            </a:pPr>
            <a:r>
              <a:rPr lang="en-US" altLang="zh-TW" sz="2800" b="1" dirty="0"/>
              <a:t>Late submission for your class assignment is not accepted. </a:t>
            </a:r>
          </a:p>
          <a:p>
            <a:pPr>
              <a:lnSpc>
                <a:spcPct val="170000"/>
              </a:lnSpc>
            </a:pPr>
            <a:r>
              <a:rPr lang="en-US" altLang="zh-TW" sz="2800" b="1" dirty="0"/>
              <a:t>Please try your best to use English in class and hope you enjoy the learning</a:t>
            </a:r>
            <a:r>
              <a:rPr lang="en-US" altLang="zh-TW" sz="2800" b="1" dirty="0" smtClean="0"/>
              <a:t>.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581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體">
  <a:themeElements>
    <a:clrScheme name="天體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天體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體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天體</Template>
  <TotalTime>1084</TotalTime>
  <Words>389</Words>
  <Application>Microsoft Office PowerPoint</Application>
  <PresentationFormat>寬螢幕</PresentationFormat>
  <Paragraphs>100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Wingdings</vt:lpstr>
      <vt:lpstr>天體</vt:lpstr>
      <vt:lpstr>Year2 (PE3)</vt:lpstr>
      <vt:lpstr>Textbook &amp; Class Schedule   </vt:lpstr>
      <vt:lpstr>PowerPoint 簡報</vt:lpstr>
      <vt:lpstr>Grading </vt:lpstr>
      <vt:lpstr> Classroom Rules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4 (PEP2-Lab)</dc:title>
  <dc:creator>Chang Sharon</dc:creator>
  <cp:lastModifiedBy>Chang Sharon</cp:lastModifiedBy>
  <cp:revision>83</cp:revision>
  <cp:lastPrinted>2023-03-03T03:56:11Z</cp:lastPrinted>
  <dcterms:created xsi:type="dcterms:W3CDTF">2020-03-02T03:35:25Z</dcterms:created>
  <dcterms:modified xsi:type="dcterms:W3CDTF">2024-09-06T07:51:04Z</dcterms:modified>
</cp:coreProperties>
</file>